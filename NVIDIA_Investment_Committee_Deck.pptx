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Compute &amp; Networking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FY2025</c:v>
                </c:pt>
                <c:pt idx="1">
                  <c:v>FY2026</c:v>
                </c:pt>
                <c:pt idx="2">
                  <c:v>TTM Jul-26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116.193</c:v>
                </c:pt>
                <c:pt idx="1">
                  <c:v>193.479</c:v>
                </c:pt>
                <c:pt idx="2">
                  <c:v>275.408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Graphics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FY2025</c:v>
                </c:pt>
                <c:pt idx="1">
                  <c:v>FY2026</c:v>
                </c:pt>
                <c:pt idx="2">
                  <c:v>TTM Jul-26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14.304</c:v>
                </c:pt>
                <c:pt idx="1">
                  <c:v>22.459</c:v>
                </c:pt>
                <c:pt idx="2">
                  <c:v>27.561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($bn)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TTM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26.914</c:v>
                </c:pt>
                <c:pt idx="1">
                  <c:v>26.974</c:v>
                </c:pt>
                <c:pt idx="2">
                  <c:v>60.922</c:v>
                </c:pt>
                <c:pt idx="3">
                  <c:v>130.497</c:v>
                </c:pt>
                <c:pt idx="4">
                  <c:v>215.938</c:v>
                </c:pt>
                <c:pt idx="5">
                  <c:v>302.97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Income ($bn)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TTM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10.041</c:v>
                </c:pt>
                <c:pt idx="1">
                  <c:v>5.577</c:v>
                </c:pt>
                <c:pt idx="2">
                  <c:v>32.972</c:v>
                </c:pt>
                <c:pt idx="3">
                  <c:v>81.453</c:v>
                </c:pt>
                <c:pt idx="4">
                  <c:v>130.387</c:v>
                </c:pt>
                <c:pt idx="5">
                  <c:v>197.579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TTM P/E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NVIDIA</c:v>
                </c:pt>
                <c:pt idx="1">
                  <c:v>AMD</c:v>
                </c:pt>
                <c:pt idx="2">
                  <c:v>Broadcom</c:v>
                </c:pt>
                <c:pt idx="3">
                  <c:v>TSMC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29.58</c:v>
                </c:pt>
                <c:pt idx="1">
                  <c:v>161.8</c:v>
                </c:pt>
                <c:pt idx="2">
                  <c:v>45.33</c:v>
                </c:pt>
                <c:pt idx="3">
                  <c:v>29.21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($bn)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FY2027E</c:v>
                </c:pt>
                <c:pt idx="1">
                  <c:v>FY2028E</c:v>
                </c:pt>
                <c:pt idx="2">
                  <c:v>FY2029E</c:v>
                </c:pt>
                <c:pt idx="3">
                  <c:v>FY2030E</c:v>
                </c:pt>
                <c:pt idx="4">
                  <c:v>FY2031E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439.3065</c:v>
                </c:pt>
                <c:pt idx="1">
                  <c:v>593.0637750000001</c:v>
                </c:pt>
                <c:pt idx="2">
                  <c:v>741.3297187500001</c:v>
                </c:pt>
                <c:pt idx="3">
                  <c:v>874.7690681250001</c:v>
                </c:pt>
                <c:pt idx="4">
                  <c:v>979.7413563000002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FCF ($bn)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FY2027E</c:v>
                </c:pt>
                <c:pt idx="1">
                  <c:v>FY2028E</c:v>
                </c:pt>
                <c:pt idx="2">
                  <c:v>FY2029E</c:v>
                </c:pt>
                <c:pt idx="3">
                  <c:v>FY2030E</c:v>
                </c:pt>
                <c:pt idx="4">
                  <c:v>FY2031E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234.0594735</c:v>
                </c:pt>
                <c:pt idx="1">
                  <c:v>311.5451871375</c:v>
                </c:pt>
                <c:pt idx="2">
                  <c:v>384.0087943125001</c:v>
                </c:pt>
                <c:pt idx="3">
                  <c:v>439.089592415625</c:v>
                </c:pt>
                <c:pt idx="4">
                  <c:v>476.01433611090005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NVIDIA Corporation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Investment Committee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Historical performance • Trading comparables • DCF valuation • Scenario analysis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Independent public-markets portfolio work sample | 2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Key facts and model outputs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383280" cy="1417320"/>
          </a:xfrm>
          <a:prstGeom prst="roundRect">
            <a:avLst/>
          </a:prstGeom>
          <a:solidFill>
            <a:srgbClr val="F0F4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TTM Revenue</a:t>
            </a:r>
          </a:p>
          <a:p>
            <a:pPr>
              <a:defRPr sz="2200" b="1">
                <a:solidFill>
                  <a:srgbClr val="17365D"/>
                </a:solidFill>
              </a:defRPr>
            </a:pPr>
            <a:r>
              <a:t>$303.0bn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383280" cy="1417320"/>
          </a:xfrm>
          <a:prstGeom prst="roundRect">
            <a:avLst/>
          </a:prstGeom>
          <a:solidFill>
            <a:srgbClr val="F0F4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TTM Operating Income</a:t>
            </a:r>
          </a:p>
          <a:p>
            <a:pPr>
              <a:defRPr sz="2200" b="1">
                <a:solidFill>
                  <a:srgbClr val="17365D"/>
                </a:solidFill>
              </a:defRPr>
            </a:pPr>
            <a:r>
              <a:t>$197.6bn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417320"/>
            <a:ext cx="3383280" cy="1417320"/>
          </a:xfrm>
          <a:prstGeom prst="roundRect">
            <a:avLst/>
          </a:prstGeom>
          <a:solidFill>
            <a:srgbClr val="F0F4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64592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TTM FCF</a:t>
            </a:r>
          </a:p>
          <a:p>
            <a:pPr>
              <a:defRPr sz="2200" b="1">
                <a:solidFill>
                  <a:srgbClr val="17365D"/>
                </a:solidFill>
              </a:defRPr>
            </a:pPr>
            <a:r>
              <a:t>$127.0bn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3383280" cy="1417320"/>
          </a:xfrm>
          <a:prstGeom prst="roundRect">
            <a:avLst/>
          </a:prstGeom>
          <a:solidFill>
            <a:srgbClr val="F0F4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Share Price</a:t>
            </a:r>
          </a:p>
          <a:p>
            <a:pPr>
              <a:defRPr sz="2200" b="1">
                <a:solidFill>
                  <a:srgbClr val="17365D"/>
                </a:solidFill>
              </a:defRPr>
            </a:pPr>
            <a:r>
              <a:t>$233.95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383280"/>
            <a:ext cx="3383280" cy="1417320"/>
          </a:xfrm>
          <a:prstGeom prst="roundRect">
            <a:avLst/>
          </a:prstGeom>
          <a:solidFill>
            <a:srgbClr val="F0F4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61188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Market Cap</a:t>
            </a:r>
          </a:p>
          <a:p>
            <a:pPr>
              <a:defRPr sz="2200" b="1">
                <a:solidFill>
                  <a:srgbClr val="17365D"/>
                </a:solidFill>
              </a:defRPr>
            </a:pPr>
            <a:r>
              <a:t>$5.65tn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383280"/>
            <a:ext cx="3383280" cy="1417320"/>
          </a:xfrm>
          <a:prstGeom prst="roundRect">
            <a:avLst/>
          </a:prstGeom>
          <a:solidFill>
            <a:srgbClr val="F0F4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61188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Illustrative DCF</a:t>
            </a:r>
          </a:p>
          <a:p>
            <a:pPr>
              <a:defRPr sz="2200" b="1">
                <a:solidFill>
                  <a:srgbClr val="17365D"/>
                </a:solidFill>
              </a:defRPr>
            </a:pPr>
            <a:r>
              <a:t>$300.82/share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Independent portfolio work sample | Data through 2 Oct 2026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Business &amp; Revenue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NVIDIA operates through Compute &amp; Networking and Graphics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A32"/>
                </a:solidFill>
              </a:defRPr>
            </a:pPr>
            <a:r>
              <a:t>FY2026 revenue was $215.9bn, up 65% year on year.</a:t>
            </a:r>
          </a:p>
          <a:p>
            <a:pPr>
              <a:spcAft>
                <a:spcPts val="1000"/>
              </a:spcAft>
              <a:defRPr sz="1500">
                <a:solidFill>
                  <a:srgbClr val="232A32"/>
                </a:solidFill>
              </a:defRPr>
            </a:pPr>
            <a:r>
              <a:t>Compute &amp; Networking represented about 90% of FY2026 revenue and grew 67%.</a:t>
            </a:r>
          </a:p>
          <a:p>
            <a:pPr>
              <a:spcAft>
                <a:spcPts val="1000"/>
              </a:spcAft>
              <a:defRPr sz="1500">
                <a:solidFill>
                  <a:srgbClr val="232A32"/>
                </a:solidFill>
              </a:defRPr>
            </a:pPr>
            <a:r>
              <a:t>TTM revenue reached $303.0bn by July 2026, with Data Center revenue of $277.8bn.</a:t>
            </a:r>
          </a:p>
          <a:p>
            <a:pPr>
              <a:spcAft>
                <a:spcPts val="1000"/>
              </a:spcAft>
              <a:defRPr sz="1500">
                <a:solidFill>
                  <a:srgbClr val="232A32"/>
                </a:solidFill>
              </a:defRPr>
            </a:pPr>
            <a:r>
              <a:t>The analysis therefore treats data-center/AI infrastructure demand as the principal operating driver.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26480" y="1417320"/>
          <a:ext cx="5394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Independent portfolio work sample | Data through 2 Oct 2026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Historical Financial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Five-year trajectory plus latest TTM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25880"/>
          <a:ext cx="67665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26679" y="1417320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A32"/>
                </a:solidFill>
              </a:defRPr>
            </a:pPr>
            <a:r>
              <a:t>Revenue increased from $26.9bn in FY2022 to $215.9bn in FY2026.</a:t>
            </a:r>
          </a:p>
          <a:p>
            <a:pPr>
              <a:spcAft>
                <a:spcPts val="1000"/>
              </a:spcAft>
              <a:defRPr sz="1300">
                <a:solidFill>
                  <a:srgbClr val="232A32"/>
                </a:solidFill>
              </a:defRPr>
            </a:pPr>
            <a:r>
              <a:t>Operating margin expanded from 37.3% in FY2022 to 60.4% in FY2026.</a:t>
            </a:r>
          </a:p>
          <a:p>
            <a:pPr>
              <a:spcAft>
                <a:spcPts val="1000"/>
              </a:spcAft>
              <a:defRPr sz="1300">
                <a:solidFill>
                  <a:srgbClr val="232A32"/>
                </a:solidFill>
              </a:defRPr>
            </a:pPr>
            <a:r>
              <a:t>TTM operating margin reached 65.2%, while TTM FCF reached $127.0bn.</a:t>
            </a:r>
          </a:p>
          <a:p>
            <a:pPr>
              <a:spcAft>
                <a:spcPts val="1000"/>
              </a:spcAft>
              <a:defRPr sz="1300">
                <a:solidFill>
                  <a:srgbClr val="232A32"/>
                </a:solidFill>
              </a:defRPr>
            </a:pPr>
            <a:r>
              <a:t>The model assumes margin normalization from the current TTM level over the forecast period.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Independent portfolio work sample | Data through 2 Oct 2026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Growth &amp;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Revenue growth remains high while margins have expanded materially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246120" cy="1325880"/>
          </a:xfrm>
          <a:prstGeom prst="roundRect">
            <a:avLst/>
          </a:prstGeom>
          <a:solidFill>
            <a:srgbClr val="F7F9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581912"/>
            <a:ext cx="2880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FY2024 Revenue Growth</a:t>
            </a:r>
          </a:p>
          <a:p>
            <a:pPr>
              <a:defRPr sz="2100" b="1">
                <a:solidFill>
                  <a:srgbClr val="17365D"/>
                </a:solidFill>
              </a:defRPr>
            </a:pPr>
            <a:r>
              <a:t>125.9%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246120" cy="1325880"/>
          </a:xfrm>
          <a:prstGeom prst="roundRect">
            <a:avLst/>
          </a:prstGeom>
          <a:solidFill>
            <a:srgbClr val="F7F9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581912"/>
            <a:ext cx="2880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FY2025 Revenue Growth</a:t>
            </a:r>
          </a:p>
          <a:p>
            <a:pPr>
              <a:defRPr sz="2100" b="1">
                <a:solidFill>
                  <a:srgbClr val="17365D"/>
                </a:solidFill>
              </a:defRPr>
            </a:pPr>
            <a:r>
              <a:t>114.2%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1417320"/>
            <a:ext cx="3246120" cy="1325880"/>
          </a:xfrm>
          <a:prstGeom prst="roundRect">
            <a:avLst/>
          </a:prstGeom>
          <a:solidFill>
            <a:srgbClr val="F7F9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1" y="1581912"/>
            <a:ext cx="2880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FY2026 Revenue Growth</a:t>
            </a:r>
          </a:p>
          <a:p>
            <a:pPr>
              <a:defRPr sz="2100" b="1">
                <a:solidFill>
                  <a:srgbClr val="17365D"/>
                </a:solidFill>
              </a:defRPr>
            </a:pPr>
            <a:r>
              <a:t>65.5%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3246120" cy="1325880"/>
          </a:xfrm>
          <a:prstGeom prst="roundRect">
            <a:avLst/>
          </a:prstGeom>
          <a:solidFill>
            <a:srgbClr val="F7F9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3547872"/>
            <a:ext cx="2880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TTM Revenue Growth</a:t>
            </a:r>
          </a:p>
          <a:p>
            <a:pPr>
              <a:defRPr sz="2100" b="1">
                <a:solidFill>
                  <a:srgbClr val="17365D"/>
                </a:solidFill>
              </a:defRPr>
            </a:pPr>
            <a:r>
              <a:t>83.4%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383280"/>
            <a:ext cx="3246120" cy="1325880"/>
          </a:xfrm>
          <a:prstGeom prst="roundRect">
            <a:avLst/>
          </a:prstGeom>
          <a:solidFill>
            <a:srgbClr val="F7F9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3547872"/>
            <a:ext cx="2880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FY2026 Op. Margin</a:t>
            </a:r>
          </a:p>
          <a:p>
            <a:pPr>
              <a:defRPr sz="2100" b="1">
                <a:solidFill>
                  <a:srgbClr val="17365D"/>
                </a:solidFill>
              </a:defRPr>
            </a:pPr>
            <a:r>
              <a:t>60.4%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3383280"/>
            <a:ext cx="3246120" cy="1325880"/>
          </a:xfrm>
          <a:prstGeom prst="roundRect">
            <a:avLst/>
          </a:prstGeom>
          <a:solidFill>
            <a:srgbClr val="F7F9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1" y="3547872"/>
            <a:ext cx="2880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TTM Op. Margin</a:t>
            </a:r>
          </a:p>
          <a:p>
            <a:pPr>
              <a:defRPr sz="2100" b="1">
                <a:solidFill>
                  <a:srgbClr val="17365D"/>
                </a:solidFill>
              </a:defRPr>
            </a:pPr>
            <a:r>
              <a:t>65.2%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40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32A32"/>
                </a:solidFill>
              </a:defRPr>
            </a:pPr>
            <a:r>
              <a:t>Key analytical question: how much of recent growth and margin performance can persist?</a:t>
            </a:r>
          </a:p>
          <a:p>
            <a:pPr>
              <a:spcAft>
                <a:spcPts val="1000"/>
              </a:spcAft>
              <a:defRPr sz="1200">
                <a:solidFill>
                  <a:srgbClr val="232A32"/>
                </a:solidFill>
              </a:defRPr>
            </a:pPr>
            <a:r>
              <a:t>The DCF explicitly tests this through declining revenue growth and operating-margin assumptions.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Independent portfolio work sample | Data through 2 Oct 2026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Market Valuation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Market data at the 2 October 2026 close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55778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37960" y="14173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32A32"/>
                </a:solidFill>
              </a:defRPr>
            </a:pPr>
            <a:r>
              <a:t>NVIDIA: $233.95/share; ~$5.65tn market capitalization; 29.6x TTM P/E.</a:t>
            </a:r>
          </a:p>
          <a:p>
            <a:pPr>
              <a:spcAft>
                <a:spcPts val="1000"/>
              </a:spcAft>
              <a:defRPr sz="1200">
                <a:solidFill>
                  <a:srgbClr val="232A32"/>
                </a:solidFill>
              </a:defRPr>
            </a:pPr>
            <a:r>
              <a:t>AMD: $633.91/share; ~$1.03tn market capitalization; 161.8x TTM P/E.</a:t>
            </a:r>
          </a:p>
          <a:p>
            <a:pPr>
              <a:spcAft>
                <a:spcPts val="1000"/>
              </a:spcAft>
              <a:defRPr sz="1200">
                <a:solidFill>
                  <a:srgbClr val="232A32"/>
                </a:solidFill>
              </a:defRPr>
            </a:pPr>
            <a:r>
              <a:t>Broadcom: $355.14/share; ~$1.70tn market capitalization; 45.3x TTM P/E.</a:t>
            </a:r>
          </a:p>
          <a:p>
            <a:pPr>
              <a:spcAft>
                <a:spcPts val="1000"/>
              </a:spcAft>
              <a:defRPr sz="1200">
                <a:solidFill>
                  <a:srgbClr val="232A32"/>
                </a:solidFill>
              </a:defRPr>
            </a:pPr>
            <a:r>
              <a:t>TSMC: $472.78/share; ~$2.04tn market capitalization; 29.2x TTM P/E.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Independent portfolio work sample | Data through 2 Oct 2026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Valuation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Three lenses are used to frame the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A32"/>
                </a:solidFill>
              </a:defRPr>
            </a:pPr>
            <a:r>
              <a:t>Trading comparables: benchmark the observed market valuation against selected semiconductor peers.</a:t>
            </a:r>
          </a:p>
          <a:p>
            <a:pPr>
              <a:spcAft>
                <a:spcPts val="1000"/>
              </a:spcAft>
              <a:defRPr sz="1500">
                <a:solidFill>
                  <a:srgbClr val="232A32"/>
                </a:solidFill>
              </a:defRPr>
            </a:pPr>
            <a:r>
              <a:t>DCF: value the business from forecast free cash flow, discount rate and terminal growth.</a:t>
            </a:r>
          </a:p>
          <a:p>
            <a:pPr>
              <a:spcAft>
                <a:spcPts val="1000"/>
              </a:spcAft>
              <a:defRPr sz="1500">
                <a:solidFill>
                  <a:srgbClr val="232A32"/>
                </a:solidFill>
              </a:defRPr>
            </a:pPr>
            <a:r>
              <a:t>Scenario analysis: stress the major assumptions rather than relying on a single forecast.</a:t>
            </a:r>
          </a:p>
          <a:p>
            <a:pPr>
              <a:spcAft>
                <a:spcPts val="1000"/>
              </a:spcAft>
              <a:defRPr sz="1500">
                <a:solidFill>
                  <a:srgbClr val="232A32"/>
                </a:solidFill>
              </a:defRPr>
            </a:pPr>
            <a:r>
              <a:t>The DCF is illustrative and is not company guidance or a broker target price.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1417320"/>
            <a:ext cx="4480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32A32"/>
                </a:solidFill>
              </a:defRPr>
            </a:pPr>
            <a:r>
              <a:t>PV explicit FCF: $1,393.9bn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240280"/>
            <a:ext cx="4480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32A32"/>
                </a:solidFill>
              </a:defRPr>
            </a:pPr>
            <a:r>
              <a:t>PV terminal value: $5,821.9bn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063240"/>
            <a:ext cx="4480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Enterprise value: $7,215.8bn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886200"/>
            <a:ext cx="4480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32A32"/>
                </a:solidFill>
              </a:defRPr>
            </a:pPr>
            <a:r>
              <a:t>Net cash: $48.1bn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4709160"/>
            <a:ext cx="4480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Equity value: $7,263.9bn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Independent portfolio work sample | Data through 2 Oct 2026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Illustrative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Base-case assumptions used in the DCF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25880"/>
          <a:ext cx="64008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141732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232A32"/>
                </a:solidFill>
              </a:defRPr>
            </a:pPr>
            <a:r>
              <a:t>FY2027E revenue growth: 45%; declines to 12% by FY2031E.</a:t>
            </a:r>
          </a:p>
          <a:p>
            <a:pPr>
              <a:spcAft>
                <a:spcPts val="1000"/>
              </a:spcAft>
              <a:defRPr sz="1250">
                <a:solidFill>
                  <a:srgbClr val="232A32"/>
                </a:solidFill>
              </a:defRPr>
            </a:pPr>
            <a:r>
              <a:t>Operating margin steps down from 64% in FY2027E to 58% in FY2031E.</a:t>
            </a:r>
          </a:p>
          <a:p>
            <a:pPr>
              <a:spcAft>
                <a:spcPts val="1000"/>
              </a:spcAft>
              <a:defRPr sz="1250">
                <a:solidFill>
                  <a:srgbClr val="232A32"/>
                </a:solidFill>
              </a:defRPr>
            </a:pPr>
            <a:r>
              <a:t>Tax rate: 15%; D&amp;A: 2.5% of revenue; CapEx: 3.0% of revenue.</a:t>
            </a:r>
          </a:p>
          <a:p>
            <a:pPr>
              <a:spcAft>
                <a:spcPts val="1000"/>
              </a:spcAft>
              <a:defRPr sz="1250">
                <a:solidFill>
                  <a:srgbClr val="232A32"/>
                </a:solidFill>
              </a:defRPr>
            </a:pPr>
            <a:r>
              <a:t>Change in NWC: 2.0% of incremental revenue.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Independent portfolio work sample | Data through 2 Oct 2026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DCF 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Base-case discounted cash flow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25880"/>
          <a:ext cx="64008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132588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A32"/>
                </a:solidFill>
              </a:defRPr>
            </a:pPr>
            <a:r>
              <a:t>PV of explicit forecast FCF: $1,393.9bn.</a:t>
            </a:r>
          </a:p>
          <a:p>
            <a:pPr>
              <a:spcAft>
                <a:spcPts val="1000"/>
              </a:spcAft>
              <a:defRPr sz="1300">
                <a:solidFill>
                  <a:srgbClr val="232A32"/>
                </a:solidFill>
              </a:defRPr>
            </a:pPr>
            <a:r>
              <a:t>PV of terminal value: $5,821.9bn.</a:t>
            </a:r>
          </a:p>
          <a:p>
            <a:pPr>
              <a:spcAft>
                <a:spcPts val="1000"/>
              </a:spcAft>
              <a:defRPr sz="1300">
                <a:solidFill>
                  <a:srgbClr val="232A32"/>
                </a:solidFill>
              </a:defRPr>
            </a:pPr>
            <a:r>
              <a:t>Enterprise value: $7,215.8bn.</a:t>
            </a:r>
          </a:p>
          <a:p>
            <a:pPr>
              <a:spcAft>
                <a:spcPts val="1000"/>
              </a:spcAft>
              <a:defRPr sz="1300">
                <a:solidFill>
                  <a:srgbClr val="232A32"/>
                </a:solidFill>
              </a:defRPr>
            </a:pPr>
            <a:r>
              <a:t>Illustrative equity value: $7,263.9bn.</a:t>
            </a:r>
          </a:p>
          <a:p>
            <a:pPr>
              <a:spcAft>
                <a:spcPts val="1000"/>
              </a:spcAft>
              <a:defRPr sz="1300">
                <a:solidFill>
                  <a:srgbClr val="232A32"/>
                </a:solidFill>
              </a:defRPr>
            </a:pPr>
            <a:r>
              <a:t>Illustrative DCF value: $300.82 per share.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Independent portfolio work sample | Data through 2 Oct 2026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DCF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Implied value per share across WACC and terminal-growth assumptions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46304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WACC / g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2.5%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3.0%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3.5%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4.0%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4.5%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8.0%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$462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8.5%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$403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9.0%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$357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9.5%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$321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10.0%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$291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Independent portfolio work sample | Data through 2 Oct 2026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Scenario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Alternative assumptions highlight valuation sensitivity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FY2027E Growth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FY2031E Growth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Terminal Growth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WACC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Downside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10.0%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9.0%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Upside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8.5%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1148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A32"/>
                </a:solidFill>
              </a:defRPr>
            </a:pPr>
            <a:r>
              <a:t>Downside: slower near-term growth, lower terminal growth and higher discount rate.</a:t>
            </a:r>
          </a:p>
          <a:p>
            <a:pPr>
              <a:spcAft>
                <a:spcPts val="1000"/>
              </a:spcAft>
              <a:defRPr sz="1300">
                <a:solidFill>
                  <a:srgbClr val="232A32"/>
                </a:solidFill>
              </a:defRPr>
            </a:pPr>
            <a:r>
              <a:t>Base: assumptions shown in the DCF section.</a:t>
            </a:r>
          </a:p>
          <a:p>
            <a:pPr>
              <a:spcAft>
                <a:spcPts val="1000"/>
              </a:spcAft>
              <a:defRPr sz="1300">
                <a:solidFill>
                  <a:srgbClr val="232A32"/>
                </a:solidFill>
              </a:defRPr>
            </a:pPr>
            <a:r>
              <a:t>Upside: stronger growth persistence and a lower discount rate.</a:t>
            </a:r>
          </a:p>
          <a:p>
            <a:pPr>
              <a:spcAft>
                <a:spcPts val="1000"/>
              </a:spcAft>
              <a:defRPr sz="1300">
                <a:solidFill>
                  <a:srgbClr val="232A32"/>
                </a:solidFill>
              </a:defRPr>
            </a:pPr>
            <a:r>
              <a:t>These are analytical scenarios, not forecasts of what will happen.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Independent portfolio work sample | Data through 2 Oct 2026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Key Risks &amp; Analytical Watchpoints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Items that could change the valuation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A32"/>
                </a:solidFill>
              </a:defRPr>
            </a:pPr>
            <a:r>
              <a:t>Growth normalization: valuation is sensitive to the pace at which AI infrastructure demand translates into revenue.</a:t>
            </a:r>
          </a:p>
          <a:p>
            <a:pPr>
              <a:spcAft>
                <a:spcPts val="1000"/>
              </a:spcAft>
              <a:defRPr sz="1400">
                <a:solidFill>
                  <a:srgbClr val="232A32"/>
                </a:solidFill>
              </a:defRPr>
            </a:pPr>
            <a:r>
              <a:t>Margin normalization: the model assumes operating margin declines from the TTM level.</a:t>
            </a:r>
          </a:p>
          <a:p>
            <a:pPr>
              <a:spcAft>
                <a:spcPts val="1000"/>
              </a:spcAft>
              <a:defRPr sz="1400">
                <a:solidFill>
                  <a:srgbClr val="232A32"/>
                </a:solidFill>
              </a:defRPr>
            </a:pPr>
            <a:r>
              <a:t>Customer concentration / hyperscaler spending: large customers can influence demand timing and working-capital requirements.</a:t>
            </a:r>
          </a:p>
          <a:p>
            <a:pPr>
              <a:spcAft>
                <a:spcPts val="1000"/>
              </a:spcAft>
              <a:defRPr sz="1400">
                <a:solidFill>
                  <a:srgbClr val="232A32"/>
                </a:solidFill>
              </a:defRPr>
            </a:pPr>
            <a:r>
              <a:t>Supply-chain and export controls: restrictions or capacity constraints can affect addressable markets and product availability.</a:t>
            </a:r>
          </a:p>
          <a:p>
            <a:pPr>
              <a:spcAft>
                <a:spcPts val="1000"/>
              </a:spcAft>
              <a:defRPr sz="1400">
                <a:solidFill>
                  <a:srgbClr val="232A32"/>
                </a:solidFill>
              </a:defRPr>
            </a:pPr>
            <a:r>
              <a:t>Competitive intensity: alternative accelerators and custom silicon could affect share, pricing or margins.</a:t>
            </a:r>
          </a:p>
          <a:p>
            <a:pPr>
              <a:spcAft>
                <a:spcPts val="1000"/>
              </a:spcAft>
              <a:defRPr sz="1400">
                <a:solidFill>
                  <a:srgbClr val="232A32"/>
                </a:solidFill>
              </a:defRPr>
            </a:pPr>
            <a:r>
              <a:t>Valuation duration: a large portion of DCF enterprise value comes from terminal value, making WACC and terminal growth important.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Independent portfolio work sample | Data through 2 Oct 2026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Investment Committee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Decision points for further diligence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2"/>
                </a:solidFill>
              </a:defRPr>
            </a:pPr>
            <a:r>
              <a:t>What level of AI infrastructure spending is sustainable beyond the current buildout cycle?</a:t>
            </a:r>
          </a:p>
          <a:p>
            <a:pPr>
              <a:spcAft>
                <a:spcPts val="1000"/>
              </a:spcAft>
              <a:defRPr sz="1600">
                <a:solidFill>
                  <a:srgbClr val="232A32"/>
                </a:solidFill>
              </a:defRPr>
            </a:pPr>
            <a:r>
              <a:t>Can NVIDIA maintain ecosystem/software advantages while competitors increase accelerator supply?</a:t>
            </a:r>
          </a:p>
          <a:p>
            <a:pPr>
              <a:spcAft>
                <a:spcPts val="1000"/>
              </a:spcAft>
              <a:defRPr sz="1600">
                <a:solidFill>
                  <a:srgbClr val="232A32"/>
                </a:solidFill>
              </a:defRPr>
            </a:pPr>
            <a:r>
              <a:t>How should the model reflect changing product cycles and gross-margin normalization?</a:t>
            </a:r>
          </a:p>
          <a:p>
            <a:pPr>
              <a:spcAft>
                <a:spcPts val="1000"/>
              </a:spcAft>
              <a:defRPr sz="1600">
                <a:solidFill>
                  <a:srgbClr val="232A32"/>
                </a:solidFill>
              </a:defRPr>
            </a:pPr>
            <a:r>
              <a:t>What customer concentration, export-control and supply-chain assumptions should be stress-tested?</a:t>
            </a:r>
          </a:p>
          <a:p>
            <a:pPr>
              <a:spcAft>
                <a:spcPts val="1000"/>
              </a:spcAft>
              <a:defRPr sz="1600">
                <a:solidFill>
                  <a:srgbClr val="232A32"/>
                </a:solidFill>
              </a:defRPr>
            </a:pPr>
            <a:r>
              <a:t>Which valuation method should carry the most weight given the uncertainty around long-term growth?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Independent portfolio work sample | Data through 2 Oct 2026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Sources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Public filings and market data used in this work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A32"/>
                </a:solidFill>
              </a:defRPr>
            </a:pPr>
            <a:r>
              <a:t>NVIDIA FY2026 Annual Report — historical financial statements, segment information and debt/liquidity.</a:t>
            </a:r>
          </a:p>
          <a:p>
            <a:pPr>
              <a:spcAft>
                <a:spcPts val="1000"/>
              </a:spcAft>
              <a:defRPr sz="1400">
                <a:solidFill>
                  <a:srgbClr val="232A32"/>
                </a:solidFill>
              </a:defRPr>
            </a:pPr>
            <a:r>
              <a:t>NVIDIA Q2 FY2027 results released 26 August 2026 — latest quarterly revenue, operating income and liquidity.</a:t>
            </a:r>
          </a:p>
          <a:p>
            <a:pPr>
              <a:spcAft>
                <a:spcPts val="1000"/>
              </a:spcAft>
              <a:defRPr sz="1400">
                <a:solidFill>
                  <a:srgbClr val="232A32"/>
                </a:solidFill>
              </a:defRPr>
            </a:pPr>
            <a:r>
              <a:t>Market data at 2 October 2026 close — NVIDIA, AMD, Broadcom and TSMC share prices and valuation ratios.</a:t>
            </a:r>
          </a:p>
          <a:p>
            <a:pPr>
              <a:spcAft>
                <a:spcPts val="1000"/>
              </a:spcAft>
              <a:defRPr sz="1400">
                <a:solidFill>
                  <a:srgbClr val="232A32"/>
                </a:solidFill>
              </a:defRPr>
            </a:pPr>
            <a:r>
              <a:t>DCF assumptions are analyst-created for this portfolio exercise and should not be interpreted as company guidance.</a:t>
            </a:r>
          </a:p>
          <a:p>
            <a:pPr>
              <a:spcAft>
                <a:spcPts val="1000"/>
              </a:spcAft>
              <a:defRPr sz="1400">
                <a:solidFill>
                  <a:srgbClr val="232A32"/>
                </a:solidFill>
              </a:defRPr>
            </a:pPr>
            <a:r>
              <a:t>All dollar amounts are USD; financial statement figures are generally shown in $bn unless stated otherwise.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Independent portfolio work sample | Data through 2 Oct 2026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Appendix —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Files included with the portfolio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A32"/>
                </a:solidFill>
              </a:defRPr>
            </a:pPr>
            <a:r>
              <a:t>NVIDIA_Investment_Committee_Deck.pptx — editable presentation deck.</a:t>
            </a:r>
          </a:p>
          <a:p>
            <a:pPr>
              <a:spcAft>
                <a:spcPts val="1000"/>
              </a:spcAft>
              <a:defRPr sz="1400">
                <a:solidFill>
                  <a:srgbClr val="232A32"/>
                </a:solidFill>
              </a:defRPr>
            </a:pPr>
            <a:r>
              <a:t>NVIDIA_Investment_Analysis.xlsx — historical analysis, trading comps, DCF, sensitivity and scenarios.</a:t>
            </a:r>
          </a:p>
          <a:p>
            <a:pPr>
              <a:spcAft>
                <a:spcPts val="1000"/>
              </a:spcAft>
              <a:defRPr sz="1400">
                <a:solidFill>
                  <a:srgbClr val="232A32"/>
                </a:solidFill>
              </a:defRPr>
            </a:pPr>
            <a:r>
              <a:t>data/historical_financials.csv — cleaned historical dataset.</a:t>
            </a:r>
          </a:p>
          <a:p>
            <a:pPr>
              <a:spcAft>
                <a:spcPts val="1000"/>
              </a:spcAft>
              <a:defRPr sz="1400">
                <a:solidFill>
                  <a:srgbClr val="232A32"/>
                </a:solidFill>
              </a:defRPr>
            </a:pPr>
            <a:r>
              <a:t>data/revenue_segments.csv — segment revenue dataset.</a:t>
            </a:r>
          </a:p>
          <a:p>
            <a:pPr>
              <a:spcAft>
                <a:spcPts val="1000"/>
              </a:spcAft>
              <a:defRPr sz="1400">
                <a:solidFill>
                  <a:srgbClr val="232A32"/>
                </a:solidFill>
              </a:defRPr>
            </a:pPr>
            <a:r>
              <a:t>data/peer_valuation_data.csv — peer valuation dataset.</a:t>
            </a:r>
          </a:p>
          <a:p>
            <a:pPr>
              <a:spcAft>
                <a:spcPts val="1000"/>
              </a:spcAft>
              <a:defRPr sz="1400">
                <a:solidFill>
                  <a:srgbClr val="232A32"/>
                </a:solidFill>
              </a:defRPr>
            </a:pPr>
            <a:r>
              <a:t>data/dcf_forecast.csv — forecast and free-cash-flow dataset.</a:t>
            </a:r>
          </a:p>
          <a:p>
            <a:pPr>
              <a:spcAft>
                <a:spcPts val="1000"/>
              </a:spcAft>
              <a:defRPr sz="1400">
                <a:solidFill>
                  <a:srgbClr val="232A32"/>
                </a:solidFill>
              </a:defRPr>
            </a:pPr>
            <a:r>
              <a:t>README.md — project documentation and portfolio presentation notes.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Independent portfolio work sample | Data through 2 Oct 2026 |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